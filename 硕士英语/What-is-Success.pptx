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270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8000" dirty="0"/>
              <a:t>What is Success?</a:t>
            </a:r>
            <a:endParaRPr lang="zh-CN" altLang="en-US" sz="8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85283"/>
          </a:xfrm>
        </p:spPr>
        <p:txBody>
          <a:bodyPr/>
          <a:lstStyle/>
          <a:p>
            <a:r>
              <a:rPr lang="en-US" altLang="zh-CN" sz="2800" dirty="0"/>
              <a:t>Freedom, Will, and Uniqueness</a:t>
            </a:r>
          </a:p>
          <a:p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624766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/>
              <a:t>******, </a:t>
            </a:r>
            <a:r>
              <a:rPr lang="en-US" altLang="zh-CN" sz="2000" dirty="0"/>
              <a:t>Lin </a:t>
            </a:r>
            <a:r>
              <a:rPr lang="en-US" altLang="zh-CN" sz="2000" dirty="0" err="1"/>
              <a:t>Ruipeng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u="sng" dirty="0"/>
              <a:t>Intro: A standard template for success</a:t>
            </a:r>
            <a:endParaRPr lang="zh-CN" altLang="en-US" u="sng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7191" y="1825625"/>
            <a:ext cx="4656607" cy="484003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en-US" altLang="zh-CN" sz="3600" dirty="0"/>
              <a:t> good grades ?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en-US" altLang="zh-CN" sz="3600" dirty="0"/>
              <a:t> a high-paying job ?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en-US" altLang="zh-CN" sz="3600" dirty="0"/>
              <a:t> a house ?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en-US" altLang="zh-CN" sz="3600" dirty="0"/>
              <a:t> a car ?</a:t>
            </a:r>
            <a:endParaRPr lang="zh-CN" altLang="en-US" sz="3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F97AD4-36EC-CCE4-48B8-249624766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90251"/>
            <a:ext cx="4947711" cy="37107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D31B2-34BB-A3A2-1BF9-59BF79D4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https://p1.ifengimg.com/fck/2018_05/a4774c975378319_w640_h638.jpg">
            <a:extLst>
              <a:ext uri="{FF2B5EF4-FFF2-40B4-BE49-F238E27FC236}">
                <a16:creationId xmlns:a16="http://schemas.microsoft.com/office/drawing/2014/main" id="{2B043E30-A222-4B8A-60C9-1EE6687BD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04" y="321616"/>
            <a:ext cx="5161996" cy="5145865"/>
          </a:xfrm>
          <a:prstGeom prst="rect">
            <a:avLst/>
          </a:prstGeom>
        </p:spPr>
      </p:pic>
      <p:pic>
        <p:nvPicPr>
          <p:cNvPr id="11" name="图片 10" descr="https://q6.itc.cn/q_70/images01/20240402/e66805c17f6d4a50aa9debcd523102ff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655" y="321617"/>
            <a:ext cx="4548943" cy="514586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764654" y="5769556"/>
            <a:ext cx="45489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i="1"/>
              <a:t>Friedrich Nietzsche</a:t>
            </a:r>
            <a:endParaRPr lang="en-US" altLang="zh-CN" sz="2400" i="1"/>
          </a:p>
          <a:p>
            <a:pPr algn="ctr"/>
            <a:r>
              <a:rPr lang="zh-CN" altLang="en-US" sz="2400" i="1"/>
              <a:t>弗里德里希</a:t>
            </a:r>
            <a:r>
              <a:rPr lang="en-US" altLang="zh-CN" sz="2400" i="1"/>
              <a:t>·</a:t>
            </a:r>
            <a:r>
              <a:rPr lang="zh-CN" altLang="en-US" sz="2400" i="1"/>
              <a:t>尼采</a:t>
            </a:r>
            <a:endParaRPr lang="zh-CN" altLang="en-US" sz="2400" i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8B5BC2-9B77-6571-4552-EEF4DED4B210}"/>
              </a:ext>
            </a:extLst>
          </p:cNvPr>
          <p:cNvSpPr txBox="1"/>
          <p:nvPr/>
        </p:nvSpPr>
        <p:spPr>
          <a:xfrm>
            <a:off x="934004" y="5769555"/>
            <a:ext cx="51619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i="1" dirty="0"/>
              <a:t>Jean-Paul Sartre</a:t>
            </a:r>
          </a:p>
          <a:p>
            <a:pPr algn="ctr"/>
            <a:r>
              <a:rPr lang="zh-CN" altLang="en-US" sz="2400" i="1" dirty="0"/>
              <a:t>让</a:t>
            </a:r>
            <a:r>
              <a:rPr lang="en-US" altLang="zh-CN" sz="2400" i="1" dirty="0"/>
              <a:t>-</a:t>
            </a:r>
            <a:r>
              <a:rPr lang="zh-CN" altLang="en-US" sz="2400" i="1" dirty="0"/>
              <a:t>保罗</a:t>
            </a:r>
            <a:r>
              <a:rPr lang="en-US" altLang="zh-CN" sz="2400" i="1" dirty="0"/>
              <a:t>·</a:t>
            </a:r>
            <a:r>
              <a:rPr lang="zh-CN" altLang="en-US" sz="2400" i="1" dirty="0"/>
              <a:t>萨特</a:t>
            </a:r>
          </a:p>
        </p:txBody>
      </p:sp>
    </p:spTree>
    <p:extLst>
      <p:ext uri="{BB962C8B-B14F-4D97-AF65-F5344CB8AC3E}">
        <p14:creationId xmlns:p14="http://schemas.microsoft.com/office/powerpoint/2010/main" val="1681626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64719"/>
            <a:ext cx="10515600" cy="1325563"/>
          </a:xfrm>
        </p:spPr>
        <p:txBody>
          <a:bodyPr/>
          <a:lstStyle/>
          <a:p>
            <a:r>
              <a:rPr lang="en-US" altLang="zh-CN" u="sng" dirty="0"/>
              <a:t>Part 1: The Freedom to Define</a:t>
            </a:r>
            <a:endParaRPr lang="zh-CN" altLang="en-US" u="sng" dirty="0"/>
          </a:p>
        </p:txBody>
      </p:sp>
      <p:sp>
        <p:nvSpPr>
          <p:cNvPr id="5" name="文本框 4"/>
          <p:cNvSpPr txBox="1"/>
          <p:nvPr/>
        </p:nvSpPr>
        <p:spPr>
          <a:xfrm>
            <a:off x="-2" y="1529407"/>
            <a:ext cx="60960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zh-CN" altLang="en-US" sz="13800" b="0" dirty="0">
                <a:solidFill>
                  <a:srgbClr val="000000"/>
                </a:solidFill>
              </a:rPr>
              <a:t>🗡️</a:t>
            </a:r>
            <a:endParaRPr lang="en-US" altLang="zh-CN" sz="13800" b="0" dirty="0">
              <a:solidFill>
                <a:srgbClr val="000000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altLang="zh-CN" sz="4000" b="0" dirty="0">
                <a:solidFill>
                  <a:srgbClr val="000000"/>
                </a:solidFill>
              </a:rPr>
              <a:t>A Knife</a:t>
            </a:r>
            <a:endParaRPr lang="en-US" altLang="zh-CN" sz="16600" dirty="0">
              <a:solidFill>
                <a:srgbClr val="000000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altLang="zh-CN" sz="3200" b="0" dirty="0">
                <a:solidFill>
                  <a:srgbClr val="000000"/>
                </a:solidFill>
              </a:rPr>
              <a:t>(To cut)</a:t>
            </a:r>
          </a:p>
          <a:p>
            <a:pPr algn="ctr">
              <a:spcBef>
                <a:spcPts val="0"/>
              </a:spcBef>
            </a:pPr>
            <a:r>
              <a:rPr lang="en-US" altLang="zh-CN" sz="3200" b="0" dirty="0">
                <a:solidFill>
                  <a:srgbClr val="000000"/>
                </a:solidFill>
              </a:rPr>
              <a:t>Purpose is fixed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5998" y="1435883"/>
            <a:ext cx="609599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zh-CN" altLang="en-US" sz="13800" b="0" dirty="0">
                <a:solidFill>
                  <a:srgbClr val="000000"/>
                </a:solidFill>
              </a:rPr>
              <a:t>🧍</a:t>
            </a:r>
            <a:endParaRPr lang="en-US" altLang="zh-CN" sz="13800" b="0" dirty="0">
              <a:solidFill>
                <a:srgbClr val="000000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altLang="zh-CN" sz="3600" b="0" dirty="0">
                <a:solidFill>
                  <a:srgbClr val="000000"/>
                </a:solidFill>
              </a:rPr>
              <a:t>A Human</a:t>
            </a:r>
          </a:p>
          <a:p>
            <a:pPr algn="ctr">
              <a:spcBef>
                <a:spcPts val="0"/>
              </a:spcBef>
            </a:pPr>
            <a:r>
              <a:rPr lang="en-US" altLang="zh-CN" sz="3200" b="0" dirty="0">
                <a:solidFill>
                  <a:srgbClr val="000000"/>
                </a:solidFill>
              </a:rPr>
              <a:t>?  (for what)</a:t>
            </a:r>
          </a:p>
          <a:p>
            <a:pPr algn="ctr">
              <a:spcBef>
                <a:spcPts val="0"/>
              </a:spcBef>
            </a:pPr>
            <a:r>
              <a:rPr lang="en-US" altLang="zh-CN" sz="3200" b="0" dirty="0">
                <a:solidFill>
                  <a:srgbClr val="000000"/>
                </a:solidFill>
              </a:rPr>
              <a:t>No built-in purpose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0" y="5780782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i="1" dirty="0"/>
              <a:t> “Existence precedes essence.” </a:t>
            </a:r>
            <a:r>
              <a:rPr lang="en-US" altLang="zh-CN" sz="3200" dirty="0"/>
              <a:t>— Sartre </a:t>
            </a:r>
          </a:p>
          <a:p>
            <a:pPr algn="ctr"/>
            <a:r>
              <a:rPr lang="zh-CN" altLang="en-US" sz="2400" i="1" dirty="0"/>
              <a:t>“存在先于本质”</a:t>
            </a:r>
            <a:r>
              <a:rPr lang="en-US" altLang="zh-CN" sz="2400" i="1" dirty="0"/>
              <a:t>——</a:t>
            </a:r>
            <a:r>
              <a:rPr lang="zh-CN" altLang="en-US" sz="2400" i="1" dirty="0"/>
              <a:t>萨特 </a:t>
            </a:r>
            <a:r>
              <a:rPr lang="en-US" altLang="zh-CN" sz="2400" i="1" dirty="0"/>
              <a:t>(</a:t>
            </a:r>
            <a:r>
              <a:rPr lang="zh-CN" altLang="en-US" sz="2400" i="1" dirty="0"/>
              <a:t>存在主义哲学家</a:t>
            </a:r>
            <a:r>
              <a:rPr lang="en-US" altLang="zh-CN" sz="2400" i="1" dirty="0"/>
              <a:t>)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15DD816-E7C5-BA81-C30D-53FE6DC06FC0}"/>
              </a:ext>
            </a:extLst>
          </p:cNvPr>
          <p:cNvCxnSpPr>
            <a:cxnSpLocks/>
          </p:cNvCxnSpPr>
          <p:nvPr/>
        </p:nvCxnSpPr>
        <p:spPr>
          <a:xfrm>
            <a:off x="6121222" y="1274602"/>
            <a:ext cx="0" cy="4333718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298304"/>
            <a:ext cx="10515600" cy="1325563"/>
          </a:xfrm>
        </p:spPr>
        <p:txBody>
          <a:bodyPr/>
          <a:lstStyle/>
          <a:p>
            <a:r>
              <a:rPr lang="en-US" altLang="zh-CN" u="sng" dirty="0"/>
              <a:t>Part 2: The Discipline of the Übermensch</a:t>
            </a:r>
            <a:endParaRPr lang="zh-CN" altLang="en-US" u="sng" dirty="0"/>
          </a:p>
        </p:txBody>
      </p:sp>
      <p:pic>
        <p:nvPicPr>
          <p:cNvPr id="4" name="图片 3" descr="https://i.etsystatic.com/8983392/c/980/980/0/294/il/a85882/1850471594/il_300x300.1850471594_k3k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677" y="2158117"/>
            <a:ext cx="3857143" cy="3857143"/>
          </a:xfrm>
          <a:prstGeom prst="rect">
            <a:avLst/>
          </a:prstGeom>
        </p:spPr>
      </p:pic>
      <p:pic>
        <p:nvPicPr>
          <p:cNvPr id="5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79" y="2282187"/>
            <a:ext cx="761980" cy="454741"/>
          </a:xfrm>
          <a:prstGeom prst="rect">
            <a:avLst/>
          </a:prstGeom>
        </p:spPr>
      </p:pic>
      <p:pic>
        <p:nvPicPr>
          <p:cNvPr id="6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826" y="2025439"/>
            <a:ext cx="761980" cy="439379"/>
          </a:xfrm>
          <a:prstGeom prst="rect">
            <a:avLst/>
          </a:prstGeom>
        </p:spPr>
      </p:pic>
      <p:sp>
        <p:nvSpPr>
          <p:cNvPr id="7" name="TextBox 4"/>
          <p:cNvSpPr txBox="1"/>
          <p:nvPr/>
        </p:nvSpPr>
        <p:spPr>
          <a:xfrm>
            <a:off x="125599" y="2120464"/>
            <a:ext cx="3621441" cy="13746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/>
              <a:t>Doing nothing =</a:t>
            </a:r>
            <a:r>
              <a:rPr sz="2800" b="1" dirty="0">
                <a:solidFill>
                  <a:srgbClr val="D1D5DB"/>
                </a:solidFill>
              </a:rPr>
              <a:t> </a:t>
            </a:r>
            <a:r>
              <a:rPr sz="2800" b="1" dirty="0">
                <a:solidFill>
                  <a:srgbClr val="F87171"/>
                </a:solidFill>
              </a:rPr>
              <a:t>Excuse</a:t>
            </a:r>
            <a:endParaRPr lang="en-US" sz="2800" b="1" dirty="0">
              <a:solidFill>
                <a:srgbClr val="F87171"/>
              </a:solidFill>
            </a:endParaRPr>
          </a:p>
          <a:p>
            <a:pPr>
              <a:lnSpc>
                <a:spcPts val="3380"/>
              </a:lnSpc>
            </a:pPr>
            <a:r>
              <a:rPr lang="en-US" altLang="zh-CN" sz="2800" dirty="0">
                <a:solidFill>
                  <a:srgbClr val="6B7280"/>
                </a:solidFill>
              </a:rPr>
              <a:t> (Lazy)</a:t>
            </a:r>
          </a:p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1915" b="0" dirty="0">
                <a:solidFill>
                  <a:srgbClr val="D1D5DB"/>
                </a:solidFill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9241" y="1784653"/>
            <a:ext cx="2867355" cy="158812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3600" b="1" dirty="0"/>
              <a:t>Übermensch</a:t>
            </a:r>
            <a:endParaRPr lang="en-US" sz="3600" b="1" dirty="0"/>
          </a:p>
          <a:p>
            <a:pPr algn="ctr">
              <a:spcBef>
                <a:spcPts val="0"/>
              </a:spcBef>
            </a:pPr>
            <a:r>
              <a:rPr lang="zh-CN" altLang="en-US" sz="2000" i="1" dirty="0"/>
              <a:t>超人哲学</a:t>
            </a:r>
            <a:endParaRPr lang="en-US" altLang="zh-CN" sz="2000" i="1" dirty="0"/>
          </a:p>
          <a:p>
            <a:pPr algn="ctr"/>
            <a:r>
              <a:rPr lang="zh-CN" altLang="en-US" sz="2000" i="1" dirty="0"/>
              <a:t>德语：超人 </a:t>
            </a:r>
            <a:r>
              <a:rPr lang="en-US" altLang="zh-CN" sz="2000" i="1" dirty="0"/>
              <a:t>(</a:t>
            </a:r>
            <a:r>
              <a:rPr lang="zh-CN" altLang="en-US" sz="2000" i="1" dirty="0"/>
              <a:t>特指尼采的超人学说</a:t>
            </a:r>
            <a:r>
              <a:rPr lang="en-US" altLang="zh-CN" sz="2000" i="1" dirty="0"/>
              <a:t>)</a:t>
            </a:r>
            <a:endParaRPr lang="zh-CN" altLang="en-US" sz="2000" i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4662492" y="3726866"/>
            <a:ext cx="3048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3600" b="1" dirty="0"/>
              <a:t>Will to Power</a:t>
            </a:r>
          </a:p>
          <a:p>
            <a:pPr algn="ctr">
              <a:spcBef>
                <a:spcPts val="0"/>
              </a:spcBef>
            </a:pPr>
            <a:r>
              <a:rPr lang="zh-CN" altLang="en-US" sz="2000" i="1" dirty="0"/>
              <a:t>权力意志</a:t>
            </a:r>
            <a:endParaRPr lang="en-US" altLang="zh-CN" sz="2000" i="1" dirty="0"/>
          </a:p>
        </p:txBody>
      </p:sp>
      <p:pic>
        <p:nvPicPr>
          <p:cNvPr id="12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826" y="3867000"/>
            <a:ext cx="761980" cy="43937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718568" y="5035059"/>
            <a:ext cx="34052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Patch:</a:t>
            </a:r>
          </a:p>
          <a:p>
            <a:r>
              <a:rPr lang="en-US" altLang="zh-CN" sz="4000" b="0" dirty="0">
                <a:solidFill>
                  <a:schemeClr val="accent1"/>
                </a:solidFill>
              </a:rPr>
              <a:t>Logic &amp; Reason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i="1" dirty="0"/>
              <a:t>逻辑</a:t>
            </a:r>
            <a:r>
              <a:rPr lang="en-US" altLang="zh-CN" sz="2000" i="1" dirty="0"/>
              <a:t> </a:t>
            </a:r>
            <a:r>
              <a:rPr lang="zh-CN" altLang="en-US" sz="2000" i="1" dirty="0"/>
              <a:t>和</a:t>
            </a:r>
            <a:r>
              <a:rPr lang="en-US" altLang="zh-CN" sz="2000" i="1" dirty="0"/>
              <a:t> </a:t>
            </a:r>
            <a:r>
              <a:rPr lang="zh-CN" altLang="en-US" sz="2000" i="1" dirty="0"/>
              <a:t>理性</a:t>
            </a:r>
            <a:endParaRPr lang="en-US" altLang="zh-CN" sz="2000" b="0" i="1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E7FBFDB-4A85-CECC-4D4E-5A5288D7DEAE}"/>
              </a:ext>
            </a:extLst>
          </p:cNvPr>
          <p:cNvCxnSpPr/>
          <p:nvPr/>
        </p:nvCxnSpPr>
        <p:spPr>
          <a:xfrm>
            <a:off x="4481033" y="1542385"/>
            <a:ext cx="0" cy="5007128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6083" y="0"/>
            <a:ext cx="10515600" cy="1325563"/>
          </a:xfrm>
        </p:spPr>
        <p:txBody>
          <a:bodyPr/>
          <a:lstStyle/>
          <a:p>
            <a:r>
              <a:rPr lang="en-US" altLang="zh-CN" u="sng" dirty="0"/>
              <a:t>Part 2: The Discipline of the Übermensch</a:t>
            </a:r>
            <a:endParaRPr lang="zh-CN" altLang="en-US" u="sng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946" y="5164783"/>
            <a:ext cx="11483603" cy="1582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/>
              <a:t>	The </a:t>
            </a:r>
            <a:r>
              <a:rPr lang="en-US" altLang="zh-CN" sz="4000" b="1" i="1" dirty="0"/>
              <a:t>Übermensch </a:t>
            </a:r>
            <a:r>
              <a:rPr lang="en-US" altLang="zh-CN" sz="4000" dirty="0"/>
              <a:t>is someone who creates their own values and has the </a:t>
            </a:r>
            <a:r>
              <a:rPr lang="en-US" altLang="zh-CN" sz="4000" b="1" i="1" dirty="0"/>
              <a:t>willpower</a:t>
            </a:r>
            <a:r>
              <a:rPr lang="en-US" altLang="zh-CN" sz="4000" dirty="0"/>
              <a:t> to make them real.</a:t>
            </a:r>
            <a:endParaRPr lang="zh-CN" altLang="en-US" sz="4000" dirty="0"/>
          </a:p>
        </p:txBody>
      </p:sp>
      <p:pic>
        <p:nvPicPr>
          <p:cNvPr id="9" name="图片 8" descr="https://mindlybiz.com/wp-content/uploads/2021/12/Nietzsche-ubermensch.jpg">
            <a:extLst>
              <a:ext uri="{FF2B5EF4-FFF2-40B4-BE49-F238E27FC236}">
                <a16:creationId xmlns:a16="http://schemas.microsoft.com/office/drawing/2014/main" id="{D06192D1-B2A7-8802-6183-17538FB6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49" y="1181889"/>
            <a:ext cx="4757901" cy="38063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144" y="216934"/>
            <a:ext cx="5290907" cy="1325563"/>
          </a:xfrm>
        </p:spPr>
        <p:txBody>
          <a:bodyPr>
            <a:normAutofit/>
          </a:bodyPr>
          <a:lstStyle/>
          <a:p>
            <a:r>
              <a:rPr lang="en-US" altLang="zh-CN" sz="5400" u="sng" dirty="0"/>
              <a:t>My extra point:</a:t>
            </a:r>
            <a:endParaRPr lang="zh-CN" altLang="en-US" sz="5400" u="sng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6034" y="2875631"/>
            <a:ext cx="4344975" cy="3411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/>
              <a:t>1. </a:t>
            </a:r>
            <a:r>
              <a:rPr lang="en-US" altLang="zh-CN" sz="3600" b="1" i="1" dirty="0"/>
              <a:t>Willpower </a:t>
            </a:r>
            <a:r>
              <a:rPr lang="en-US" altLang="zh-CN" sz="3600" dirty="0"/>
              <a:t>alone is not enough; </a:t>
            </a:r>
          </a:p>
          <a:p>
            <a:endParaRPr lang="en-US" altLang="zh-CN" sz="3600" dirty="0"/>
          </a:p>
          <a:p>
            <a:pPr marL="0" indent="0">
              <a:buNone/>
            </a:pPr>
            <a:r>
              <a:rPr lang="en-US" altLang="zh-CN" sz="3600" dirty="0"/>
              <a:t>2. it must be guided by </a:t>
            </a:r>
            <a:r>
              <a:rPr lang="en-US" altLang="zh-CN" sz="3600" b="1" i="1" dirty="0"/>
              <a:t>logic</a:t>
            </a:r>
            <a:r>
              <a:rPr lang="en-US" altLang="zh-CN" sz="3600" dirty="0"/>
              <a:t> and </a:t>
            </a:r>
            <a:r>
              <a:rPr lang="en-US" altLang="zh-CN" sz="3600" b="1" i="1" dirty="0"/>
              <a:t>reason</a:t>
            </a:r>
            <a:r>
              <a:rPr lang="en-US" altLang="zh-CN" sz="3600" dirty="0"/>
              <a:t>. </a:t>
            </a:r>
            <a:endParaRPr lang="zh-CN" altLang="en-US" sz="3600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745ED56-EB44-3FBB-B761-7096DECFA408}"/>
              </a:ext>
            </a:extLst>
          </p:cNvPr>
          <p:cNvCxnSpPr>
            <a:cxnSpLocks/>
          </p:cNvCxnSpPr>
          <p:nvPr/>
        </p:nvCxnSpPr>
        <p:spPr>
          <a:xfrm>
            <a:off x="4544343" y="304274"/>
            <a:ext cx="0" cy="6249451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9D413957-C7D5-27D7-E8EA-763CB3CE0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016" y="158779"/>
            <a:ext cx="7400840" cy="64822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57505"/>
            <a:ext cx="10515600" cy="1325563"/>
          </a:xfrm>
        </p:spPr>
        <p:txBody>
          <a:bodyPr/>
          <a:lstStyle/>
          <a:p>
            <a:r>
              <a:rPr lang="en-US" altLang="zh-CN" u="sng" dirty="0"/>
              <a:t>Part 3: A Real-World Example</a:t>
            </a:r>
            <a:endParaRPr lang="zh-CN" altLang="en-US" u="sng" dirty="0"/>
          </a:p>
        </p:txBody>
      </p:sp>
      <p:pic>
        <p:nvPicPr>
          <p:cNvPr id="4" name="图片 3" descr="https://www.36840.com/yule/res/2023/01-15/08/675190c7ac5ab4379fe7bc34deed33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68" y="1816978"/>
            <a:ext cx="2498632" cy="44425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629" y="1816977"/>
            <a:ext cx="4229694" cy="444256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48531" y="1816976"/>
            <a:ext cx="455203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The values of Apple Inc. </a:t>
            </a:r>
            <a:r>
              <a:rPr lang="en-US" altLang="zh-CN" sz="2800" dirty="0"/>
              <a:t>:</a:t>
            </a:r>
          </a:p>
          <a:p>
            <a:r>
              <a:rPr lang="en-US" altLang="zh-CN" sz="2800" dirty="0"/>
              <a:t>“</a:t>
            </a:r>
            <a:r>
              <a:rPr lang="zh-CN" altLang="zh-CN" sz="2800" dirty="0"/>
              <a:t>Technology alone is not enough, it's technology married with liberal arts, married with humanities, that makes our heart sing.</a:t>
            </a:r>
            <a:r>
              <a:rPr lang="en-US" altLang="zh-CN" sz="2800" dirty="0"/>
              <a:t>”</a:t>
            </a:r>
          </a:p>
          <a:p>
            <a:endParaRPr lang="en-US" altLang="zh-CN" sz="2800" i="1" dirty="0"/>
          </a:p>
          <a:p>
            <a:r>
              <a:rPr lang="zh-CN" altLang="en-US" sz="2400" i="1" dirty="0"/>
              <a:t>“走在科技和人文的十字路口”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3764"/>
            <a:ext cx="10515600" cy="1325563"/>
          </a:xfrm>
        </p:spPr>
        <p:txBody>
          <a:bodyPr/>
          <a:lstStyle/>
          <a:p>
            <a:r>
              <a:rPr lang="en-US" altLang="zh-CN" u="sng" dirty="0"/>
              <a:t>Part 3: A Real-World Example</a:t>
            </a:r>
            <a:endParaRPr lang="zh-CN" altLang="en-US" u="sng" dirty="0"/>
          </a:p>
        </p:txBody>
      </p:sp>
      <p:pic>
        <p:nvPicPr>
          <p:cNvPr id="4" name="图片 3" descr="The Apple “Think Different” Slogan: Origin, Meaning, and Impact - Profolu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9583"/>
            <a:ext cx="7460965" cy="373048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1302086"/>
            <a:ext cx="12192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/>
              <a:t>“</a:t>
            </a:r>
            <a:r>
              <a:rPr lang="zh-CN" altLang="zh-CN" sz="5400" dirty="0"/>
              <a:t>Think Different</a:t>
            </a:r>
            <a:r>
              <a:rPr lang="en-US" altLang="zh-CN" sz="5400" dirty="0"/>
              <a:t>”</a:t>
            </a:r>
            <a:endParaRPr lang="en-US" altLang="zh-CN" sz="5400" i="1" dirty="0"/>
          </a:p>
          <a:p>
            <a:pPr algn="ctr"/>
            <a:r>
              <a:rPr lang="zh-CN" altLang="en-US" sz="3200" i="1" dirty="0"/>
              <a:t>非同凡响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643122" y="2978550"/>
            <a:ext cx="44017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/>
              <a:t>“Because the people who are crazy enough to think  they can change the world, are the ones who do.”</a:t>
            </a:r>
          </a:p>
          <a:p>
            <a:r>
              <a:rPr lang="zh-CN" altLang="en-US" sz="2400" i="1" dirty="0"/>
              <a:t>只有那些疯狂到认为自己可以改变世界的人，才能真正的改变世界。</a:t>
            </a:r>
            <a:endParaRPr lang="en-US" altLang="zh-CN" sz="2400" i="1" dirty="0"/>
          </a:p>
          <a:p>
            <a:endParaRPr lang="en-US" altLang="zh-CN" sz="2800" dirty="0"/>
          </a:p>
          <a:p>
            <a:pPr algn="r"/>
            <a:r>
              <a:rPr lang="en-US" altLang="zh-CN" sz="2800" i="1" dirty="0"/>
              <a:t>---- Think Different</a:t>
            </a:r>
            <a:endParaRPr lang="zh-CN" altLang="en-US" sz="28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9814"/>
            <a:ext cx="10515600" cy="1325563"/>
          </a:xfrm>
        </p:spPr>
        <p:txBody>
          <a:bodyPr/>
          <a:lstStyle/>
          <a:p>
            <a:r>
              <a:rPr lang="en-US" altLang="zh-CN" u="sng" dirty="0"/>
              <a:t>To conclude: </a:t>
            </a:r>
            <a:r>
              <a:rPr lang="en-US" altLang="zh-CN" i="1" u="sng" dirty="0"/>
              <a:t>What is success?</a:t>
            </a:r>
            <a:endParaRPr lang="zh-CN" altLang="en-US" i="1" u="sng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52215"/>
            <a:ext cx="10515600" cy="3890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/>
              <a:t>1. Find your </a:t>
            </a:r>
            <a:r>
              <a:rPr lang="en-US" altLang="zh-CN" sz="4000" b="1" dirty="0"/>
              <a:t>unique</a:t>
            </a:r>
            <a:r>
              <a:rPr lang="en-US" altLang="zh-CN" sz="4000" dirty="0"/>
              <a:t> “</a:t>
            </a:r>
            <a:r>
              <a:rPr lang="en-US" altLang="zh-CN" sz="4000" b="1" dirty="0"/>
              <a:t>why</a:t>
            </a:r>
            <a:r>
              <a:rPr lang="en-US" altLang="zh-CN" sz="4000" dirty="0"/>
              <a:t>”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i="1" dirty="0"/>
              <a:t>知道自己为什么独特</a:t>
            </a:r>
            <a:endParaRPr lang="en-US" altLang="zh-CN" dirty="0"/>
          </a:p>
          <a:p>
            <a:pPr marL="0" indent="0">
              <a:buNone/>
            </a:pPr>
            <a:endParaRPr lang="en-US" altLang="zh-CN" sz="3600" dirty="0"/>
          </a:p>
          <a:p>
            <a:pPr marL="0" indent="0">
              <a:buNone/>
            </a:pPr>
            <a:r>
              <a:rPr lang="en-US" altLang="zh-CN" sz="4000" dirty="0"/>
              <a:t>2. use your </a:t>
            </a:r>
            <a:r>
              <a:rPr lang="en-US" altLang="zh-CN" sz="4000" b="1" dirty="0"/>
              <a:t>reason</a:t>
            </a:r>
            <a:r>
              <a:rPr lang="en-US" altLang="zh-CN" sz="4000" dirty="0"/>
              <a:t> to figure out the “</a:t>
            </a:r>
            <a:r>
              <a:rPr lang="en-US" altLang="zh-CN" sz="4000" b="1" dirty="0"/>
              <a:t>how</a:t>
            </a:r>
            <a:r>
              <a:rPr lang="en-US" altLang="zh-CN" sz="4000" dirty="0"/>
              <a:t>”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i="1" dirty="0"/>
              <a:t>运用理性达到它</a:t>
            </a:r>
            <a:r>
              <a:rPr lang="en-US" altLang="zh-CN" i="1" dirty="0"/>
              <a:t>!</a:t>
            </a:r>
          </a:p>
          <a:p>
            <a:pPr marL="0" indent="0">
              <a:buNone/>
            </a:pPr>
            <a:endParaRPr lang="en-US" altLang="zh-CN" sz="480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6841" y="87027"/>
            <a:ext cx="5155611" cy="1325563"/>
          </a:xfrm>
        </p:spPr>
        <p:txBody>
          <a:bodyPr/>
          <a:lstStyle/>
          <a:p>
            <a:r>
              <a:rPr lang="en-US" altLang="zh-CN" u="sng" dirty="0"/>
              <a:t>Epilogue</a:t>
            </a:r>
            <a:endParaRPr lang="zh-CN" altLang="en-US" u="sng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64772" y="1879250"/>
            <a:ext cx="6091796" cy="46136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3600" i="1" dirty="0"/>
              <a:t>"He who has a why to live for can bear almost any how." </a:t>
            </a:r>
          </a:p>
          <a:p>
            <a:pPr marL="0" indent="0" algn="ctr">
              <a:buNone/>
            </a:pPr>
            <a:endParaRPr lang="en-US" altLang="zh-CN" sz="3600" i="1" dirty="0"/>
          </a:p>
          <a:p>
            <a:pPr marL="0" indent="0" algn="ctr">
              <a:buNone/>
            </a:pPr>
            <a:r>
              <a:rPr lang="zh-CN" altLang="en-US" i="1" dirty="0"/>
              <a:t>一个人知道自己为什么而活，就可以忍受任何一种生活。</a:t>
            </a:r>
            <a:endParaRPr lang="en-US" altLang="zh-CN" i="1" dirty="0"/>
          </a:p>
          <a:p>
            <a:pPr marL="0" indent="0" algn="ctr">
              <a:buNone/>
            </a:pPr>
            <a:endParaRPr lang="en-US" altLang="zh-CN" i="1" dirty="0"/>
          </a:p>
          <a:p>
            <a:pPr marL="0" indent="0" algn="r">
              <a:buNone/>
            </a:pPr>
            <a:r>
              <a:rPr lang="en-US" altLang="zh-CN" sz="3600" dirty="0"/>
              <a:t>--- Nietzsche</a:t>
            </a:r>
            <a:endParaRPr lang="zh-CN" altLang="en-US" sz="3600" dirty="0"/>
          </a:p>
        </p:txBody>
      </p:sp>
      <p:pic>
        <p:nvPicPr>
          <p:cNvPr id="6" name="图片 5" descr="尼采逝世120周年 | 他如何影响了战后的法国哲学？_手机新浪网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41" y="1551327"/>
            <a:ext cx="5155611" cy="51458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367</Words>
  <Application>Microsoft Office PowerPoint</Application>
  <PresentationFormat>宽屏</PresentationFormat>
  <Paragraphs>65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WPS</vt:lpstr>
      <vt:lpstr>What is Success?</vt:lpstr>
      <vt:lpstr>Intro: A standard template for success</vt:lpstr>
      <vt:lpstr>PowerPoint 演示文稿</vt:lpstr>
      <vt:lpstr>Part 1: The Freedom to Define</vt:lpstr>
      <vt:lpstr>Part 2: The Discipline of the Übermensch</vt:lpstr>
      <vt:lpstr>Part 2: The Discipline of the Übermensch</vt:lpstr>
      <vt:lpstr>My extra point:</vt:lpstr>
      <vt:lpstr>Part 3: A Real-World Example</vt:lpstr>
      <vt:lpstr>Part 3: A Real-World Example</vt:lpstr>
      <vt:lpstr>To conclude: What is success?</vt:lpstr>
      <vt:lpstr>Epilogue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MuXinYue</dc:creator>
  <cp:lastModifiedBy>惢朋 林</cp:lastModifiedBy>
  <cp:revision>118</cp:revision>
  <dcterms:created xsi:type="dcterms:W3CDTF">2023-08-09T12:44:00Z</dcterms:created>
  <dcterms:modified xsi:type="dcterms:W3CDTF">2026-06-17T12:12:49Z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0BFD952253C0407EBBB7D5BF0F6919CA_12</vt:lpwstr>
  </property>
</Properties>
</file>